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olors3.xml" ContentType="application/vnd.ms-office.chartcolorstyle+xml"/>
  <Override PartName="/ppt/charts/style2.xml" ContentType="application/vnd.ms-office.chartstyl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hart3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3.xml" ContentType="application/vnd.ms-office.chartstyle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_rels/chart3.xml.rels><?xml version="1.0" encoding="UTF-8"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Avg Mismatch %</c:v>
                </c:pt>
              </c:strCache>
            </c:strRef>
          </c:tx>
          <c:spPr>
            <a:solidFill>
              <a:srgbClr val="1E2761"/>
            </a:solidFill>
            <a:ln w="31680">
              <a:solidFill>
                <a:srgbClr val="1E2761"/>
              </a:solidFill>
              <a:round/>
            </a:ln>
          </c:spPr>
          <c:marker>
            <c:symbol val="circle"/>
            <c:size val="6"/>
            <c:spPr>
              <a:solidFill>
                <a:srgbClr val="1E2761"/>
              </a:solidFill>
            </c:spPr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8"/>
                <c:pt idx="0">
                  <c:v>1st</c:v>
                </c:pt>
                <c:pt idx="1">
                  <c:v>2nd</c:v>
                </c:pt>
                <c:pt idx="2">
                  <c:v>3rd</c:v>
                </c:pt>
                <c:pt idx="3">
                  <c:v>4th</c:v>
                </c:pt>
                <c:pt idx="4">
                  <c:v>5th</c:v>
                </c:pt>
                <c:pt idx="5">
                  <c:v>6th</c:v>
                </c:pt>
                <c:pt idx="6">
                  <c:v>7th</c:v>
                </c:pt>
                <c:pt idx="7">
                  <c:v>8th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8"/>
                <c:pt idx="0">
                  <c:v>2.11</c:v>
                </c:pt>
                <c:pt idx="1">
                  <c:v>5.16</c:v>
                </c:pt>
                <c:pt idx="2">
                  <c:v>2.67</c:v>
                </c:pt>
                <c:pt idx="3">
                  <c:v>2.1</c:v>
                </c:pt>
                <c:pt idx="4">
                  <c:v>1.93</c:v>
                </c:pt>
                <c:pt idx="5">
                  <c:v>0.55</c:v>
                </c:pt>
                <c:pt idx="6">
                  <c:v>0.18</c:v>
                </c:pt>
                <c:pt idx="7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Avg Error %</c:v>
                </c:pt>
              </c:strCache>
            </c:strRef>
          </c:tx>
          <c:spPr>
            <a:solidFill>
              <a:srgbClr val="B0281E"/>
            </a:solidFill>
            <a:ln w="31680">
              <a:solidFill>
                <a:srgbClr val="B0281E"/>
              </a:solidFill>
              <a:round/>
            </a:ln>
          </c:spPr>
          <c:marker>
            <c:symbol val="circle"/>
            <c:size val="6"/>
            <c:spPr>
              <a:solidFill>
                <a:srgbClr val="B0281E"/>
              </a:solidFill>
            </c:spPr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8"/>
                <c:pt idx="0">
                  <c:v>1st</c:v>
                </c:pt>
                <c:pt idx="1">
                  <c:v>2nd</c:v>
                </c:pt>
                <c:pt idx="2">
                  <c:v>3rd</c:v>
                </c:pt>
                <c:pt idx="3">
                  <c:v>4th</c:v>
                </c:pt>
                <c:pt idx="4">
                  <c:v>5th</c:v>
                </c:pt>
                <c:pt idx="5">
                  <c:v>6th</c:v>
                </c:pt>
                <c:pt idx="6">
                  <c:v>7th</c:v>
                </c:pt>
                <c:pt idx="7">
                  <c:v>8th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8"/>
                <c:pt idx="0">
                  <c:v>1.32</c:v>
                </c:pt>
                <c:pt idx="1">
                  <c:v>0.46</c:v>
                </c:pt>
                <c:pt idx="2">
                  <c:v>1.01</c:v>
                </c:pt>
                <c:pt idx="3">
                  <c:v>0.66</c:v>
                </c:pt>
                <c:pt idx="4">
                  <c:v>0.41</c:v>
                </c:pt>
                <c:pt idx="5">
                  <c:v>0.28</c:v>
                </c:pt>
                <c:pt idx="6">
                  <c:v>0</c:v>
                </c:pt>
                <c:pt idx="7">
                  <c:v>0.55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1"/>
        <c:axId val="12220264"/>
        <c:axId val="55504877"/>
      </c:lineChart>
      <c:catAx>
        <c:axId val="1222026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100" b="0" u="none" strike="noStrike">
                <a:solidFill>
                  <a:srgbClr val="444444"/>
                </a:solidFill>
                <a:uFillTx/>
                <a:latin typeface="Arial"/>
              </a:defRPr>
            </a:pPr>
          </a:p>
        </c:txPr>
        <c:crossAx val="55504877"/>
        <c:crosses val="autoZero"/>
        <c:auto val="1"/>
        <c:lblAlgn val="ctr"/>
        <c:lblOffset val="100"/>
        <c:noMultiLvlLbl val="0"/>
      </c:catAx>
      <c:valAx>
        <c:axId val="55504877"/>
        <c:scaling>
          <c:orientation val="minMax"/>
        </c:scaling>
        <c:delete val="0"/>
        <c:axPos val="l"/>
        <c:majorGridlines>
          <c:spPr>
            <a:ln w="9360">
              <a:solidFill>
                <a:srgbClr val="E5E7EB"/>
              </a:solidFill>
              <a:round/>
            </a:ln>
          </c:spPr>
        </c:majorGridlines>
        <c:title>
          <c:tx>
            <c:rich>
              <a:bodyPr rot="-5400000"/>
              <a:lstStyle/>
              <a:p>
                <a:pPr>
                  <a:defRPr sz="13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r>
                  <a:rPr sz="1000" b="0" u="none" strike="noStrike">
                    <a:solidFill>
                      <a:srgbClr val="000000"/>
                    </a:solidFill>
                    <a:uFillTx/>
                    <a:latin typeface="Arial"/>
                  </a:rPr>
                  <a:t>% of 181 fields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000" b="0" u="none" strike="noStrike">
                <a:solidFill>
                  <a:srgbClr val="888888"/>
                </a:solidFill>
                <a:uFillTx/>
                <a:latin typeface="Arial"/>
              </a:defRPr>
            </a:pPr>
          </a:p>
        </c:txPr>
        <c:crossAx val="12220264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100" b="0" u="none" strike="noStrike">
              <a:solidFill>
                <a:srgbClr val="444444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300" b="0" u="none" strike="noStrike">
                <a:solidFill>
                  <a:srgbClr val="1E2761"/>
                </a:solidFill>
                <a:uFillTx/>
                <a:latin typeface="Arial"/>
              </a:rPr>
              <a:t>Most Frequently Affected Field Families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Mentions</c:v>
                </c:pt>
              </c:strCache>
            </c:strRef>
          </c:tx>
          <c:spPr>
            <a:solidFill>
              <a:srgbClr val="D9A441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sz="1000" b="1" u="none" strike="noStrike">
                    <a:solidFill>
                      <a:srgbClr val="1E2761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6"/>
                <c:pt idx="0">
                  <c:v>Delinquency
Buckets</c:v>
                </c:pt>
                <c:pt idx="1">
                  <c:v>Pool Balance
Fields</c:v>
                </c:pt>
                <c:pt idx="2">
                  <c:v>TOTAL_FEES_
EXPENSES</c:v>
                </c:pt>
                <c:pt idx="3">
                  <c:v>Trigger
Flags</c:v>
                </c:pt>
                <c:pt idx="4">
                  <c:v>PREPAY_
PENALTIES</c:v>
                </c:pt>
                <c:pt idx="5">
                  <c:v>TRANCHE_
FACTOR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73</c:v>
                </c:pt>
                <c:pt idx="1">
                  <c:v>33</c:v>
                </c:pt>
                <c:pt idx="2">
                  <c:v>24</c:v>
                </c:pt>
                <c:pt idx="3">
                  <c:v>17</c:v>
                </c:pt>
                <c:pt idx="4">
                  <c:v>8</c:v>
                </c:pt>
                <c:pt idx="5">
                  <c:v>5</c:v>
                </c:pt>
              </c:numCache>
            </c:numRef>
          </c:val>
        </c:ser>
        <c:gapWidth val="150"/>
        <c:overlap val="0"/>
        <c:axId val="9689460"/>
        <c:axId val="71491740"/>
      </c:barChart>
      <c:catAx>
        <c:axId val="968946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000" b="0" u="none" strike="noStrike">
                <a:solidFill>
                  <a:srgbClr val="444444"/>
                </a:solidFill>
                <a:uFillTx/>
                <a:latin typeface="Arial"/>
              </a:defRPr>
            </a:pPr>
          </a:p>
        </c:txPr>
        <c:crossAx val="71491740"/>
        <c:crosses val="autoZero"/>
        <c:auto val="1"/>
        <c:lblAlgn val="ctr"/>
        <c:lblOffset val="100"/>
        <c:noMultiLvlLbl val="0"/>
      </c:catAx>
      <c:valAx>
        <c:axId val="71491740"/>
        <c:scaling>
          <c:orientation val="minMax"/>
          <c:max val="85"/>
          <c:min val="0"/>
        </c:scaling>
        <c:delete val="0"/>
        <c:axPos val="l"/>
        <c:majorGridlines>
          <c:spPr>
            <a:ln w="9360">
              <a:solidFill>
                <a:srgbClr val="E5E7EB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888888"/>
                </a:solidFill>
                <a:uFillTx/>
                <a:latin typeface="Arial"/>
              </a:defRPr>
            </a:pPr>
          </a:p>
        </c:txPr>
        <c:crossAx val="9689460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Self-Count</c:v>
                </c:pt>
              </c:strCache>
            </c:strRef>
          </c:tx>
          <c:spPr>
            <a:solidFill>
              <a:srgbClr val="1E2761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1E2761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D9A441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1E2761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1E2761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1E2761"/>
              </a:solidFill>
              <a:ln w="0">
                <a:noFill/>
              </a:ln>
            </c:spPr>
          </c:dPt>
          <c:dPt>
            <c:idx val="5"/>
            <c:invertIfNegative val="0"/>
            <c:spPr>
              <a:solidFill>
                <a:srgbClr val="1E2761"/>
              </a:solidFill>
              <a:ln w="0">
                <a:noFill/>
              </a:ln>
            </c:spPr>
          </c:dPt>
          <c:dLbls>
            <c:dLbl>
              <c:idx val="0"/>
              <c:numFmt formatCode="#,##0" sourceLinked="0"/>
              <c:txPr>
                <a:bodyPr wrap="square"/>
                <a:lstStyle/>
                <a:p>
                  <a:pPr>
                    <a:defRPr sz="1100" b="1" u="none" strike="noStrike">
                      <a:solidFill>
                        <a:srgbClr val="1E2761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#,##0" sourceLinked="0"/>
              <c:txPr>
                <a:bodyPr wrap="square"/>
                <a:lstStyle/>
                <a:p>
                  <a:pPr>
                    <a:defRPr sz="1100" b="1" u="none" strike="noStrike">
                      <a:solidFill>
                        <a:srgbClr val="1E2761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#,##0" sourceLinked="0"/>
              <c:txPr>
                <a:bodyPr wrap="square"/>
                <a:lstStyle/>
                <a:p>
                  <a:pPr>
                    <a:defRPr sz="1100" b="1" u="none" strike="noStrike">
                      <a:solidFill>
                        <a:srgbClr val="1E2761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#,##0" sourceLinked="0"/>
              <c:txPr>
                <a:bodyPr wrap="square"/>
                <a:lstStyle/>
                <a:p>
                  <a:pPr>
                    <a:defRPr sz="1100" b="1" u="none" strike="noStrike">
                      <a:solidFill>
                        <a:srgbClr val="1E2761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numFmt formatCode="#,##0" sourceLinked="0"/>
              <c:txPr>
                <a:bodyPr wrap="square"/>
                <a:lstStyle/>
                <a:p>
                  <a:pPr>
                    <a:defRPr sz="1100" b="1" u="none" strike="noStrike">
                      <a:solidFill>
                        <a:srgbClr val="1E2761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5"/>
              <c:numFmt formatCode="#,##0" sourceLinked="0"/>
              <c:txPr>
                <a:bodyPr wrap="square"/>
                <a:lstStyle/>
                <a:p>
                  <a:pPr>
                    <a:defRPr sz="1100" b="1" u="none" strike="noStrike">
                      <a:solidFill>
                        <a:srgbClr val="1E2761"/>
                      </a:solidFill>
                      <a:uFillTx/>
                      <a:latin typeface="Arial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numFmt formatCode="#,##0" sourceLinked="0"/>
            <c:txPr>
              <a:bodyPr wrap="square"/>
              <a:lstStyle/>
              <a:p>
                <a:pPr>
                  <a:defRPr sz="1100" b="1" u="none" strike="noStrike">
                    <a:solidFill>
                      <a:srgbClr val="1E2761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6"/>
                <c:pt idx="0">
                  <c:v>Wells Fargo
MBS</c:v>
                </c:pt>
                <c:pt idx="1">
                  <c:v>Tricon</c:v>
                </c:pt>
                <c:pt idx="2">
                  <c:v>CIM
Trust</c:v>
                </c:pt>
                <c:pt idx="3">
                  <c:v>AH4R
(combined)</c:v>
                </c:pt>
                <c:pt idx="4">
                  <c:v>Ajax Mtg
Loan Trust</c:v>
                </c:pt>
                <c:pt idx="5">
                  <c:v>L St. Sec.
(combined)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6"/>
                <c:pt idx="0">
                  <c:v>9</c:v>
                </c:pt>
                <c:pt idx="1">
                  <c:v>14</c:v>
                </c:pt>
                <c:pt idx="2">
                  <c:v>6</c:v>
                </c:pt>
                <c:pt idx="3">
                  <c:v>6</c:v>
                </c:pt>
                <c:pt idx="4">
                  <c:v>5</c:v>
                </c:pt>
                <c:pt idx="5">
                  <c:v>6</c:v>
                </c:pt>
              </c:numCache>
            </c:numRef>
          </c:val>
        </c:ser>
        <c:gapWidth val="150"/>
        <c:overlap val="0"/>
        <c:axId val="95291576"/>
        <c:axId val="58427265"/>
      </c:barChart>
      <c:catAx>
        <c:axId val="9529157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000" b="0" u="none" strike="noStrike">
                <a:solidFill>
                  <a:srgbClr val="444444"/>
                </a:solidFill>
                <a:uFillTx/>
                <a:latin typeface="Arial"/>
              </a:defRPr>
            </a:pPr>
          </a:p>
        </c:txPr>
        <c:crossAx val="58427265"/>
        <c:crosses val="autoZero"/>
        <c:auto val="1"/>
        <c:lblAlgn val="ctr"/>
        <c:lblOffset val="100"/>
        <c:noMultiLvlLbl val="0"/>
      </c:catAx>
      <c:valAx>
        <c:axId val="58427265"/>
        <c:scaling>
          <c:orientation val="minMax"/>
          <c:max val="16"/>
        </c:scaling>
        <c:delete val="0"/>
        <c:axPos val="l"/>
        <c:majorGridlines>
          <c:spPr>
            <a:ln w="9360">
              <a:solidFill>
                <a:srgbClr val="E5E7EB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888888"/>
                </a:solidFill>
                <a:uFillTx/>
                <a:latin typeface="Arial"/>
              </a:defRPr>
            </a:pPr>
          </a:p>
        </c:txPr>
        <c:crossAx val="95291576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lineWidthScale>1</cs:lineWidthScale>
    <cs:fillRef idx="0"/>
    <cs:effectRef idx="0"/>
    <cs:fontRef idx="minor"/>
    <a:defRPr sz="1800" b="0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lineWidthScale>1</cs:lineWidthScale>
    <cs:fillRef idx="0"/>
    <cs:effectRef idx="0"/>
    <cs:fontRef idx="minor"/>
    <a:defRPr sz="1800" b="0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3.xml><?xml version="1.0" encoding="utf-8"?>
<cs:chartStyle xmlns:cs="http://schemas.microsoft.com/office/drawing/2012/chartStyle" xmlns:a="http://schemas.openxmlformats.org/drawingml/2006/main" id="419">
  <cs:axisTitle>
    <cs:lnRef idx="0"/>
    <cs:lineWidthScale>1</cs:lineWidthScale>
    <cs:fillRef idx="0"/>
    <cs:effectRef idx="0"/>
    <cs:fontRef idx="minor"/>
    <a:defRPr sz="1800" b="0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IN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76AAAF9-59DD-4961-951F-AECF0092120B}" type="slidenum">
              <a:rPr lang="en-IN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IN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7BADF7C-740B-49FB-9B8F-94C9074039A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6ED81E6-1067-4E30-8CC1-A52FD3074F3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D6790F0-02BD-465A-AA67-407DA1791E6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3A0CF4F-D894-4C17-A001-026A37F8F11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A0A1803-7A2C-4C0C-858F-F80643474AB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0CEFD92-8F46-41F8-BD52-7ED06CAC62D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IN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I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IN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IN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IN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IN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2160080" cy="685656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9692640" y="-1463040"/>
            <a:ext cx="4570560" cy="4570560"/>
          </a:xfrm>
          <a:prstGeom prst="ellipse">
            <a:avLst/>
          </a:prstGeom>
          <a:solidFill>
            <a:srgbClr val="2B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10881360" y="4206240"/>
            <a:ext cx="2924640" cy="2924640"/>
          </a:xfrm>
          <a:prstGeom prst="ellipse">
            <a:avLst/>
          </a:prstGeom>
          <a:solidFill>
            <a:srgbClr val="2B3A8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822960" y="2148840"/>
            <a:ext cx="91425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RMBS DATA EXTRACTION QA</a:t>
            </a:r>
            <a:endParaRPr lang="en-IN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777240" y="2514600"/>
            <a:ext cx="10056960" cy="118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Error Analysis Report</a:t>
            </a:r>
            <a:endParaRPr lang="en-IN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822960" y="3611880"/>
            <a:ext cx="95997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CADCFC"/>
                </a:solidFill>
                <a:effectLst/>
                <a:uFillTx/>
                <a:latin typeface="Calibri"/>
                <a:ea typeface="Calibri"/>
              </a:rPr>
              <a:t>Categorized extraction &amp; calculation errors across the Review Status Summary log and the deal-level Self-Count tracker</a:t>
            </a:r>
            <a:endParaRPr lang="en-IN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822960" y="6126480"/>
            <a:ext cx="91425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896C4"/>
                </a:solidFill>
                <a:effectLst/>
                <a:uFillTx/>
                <a:latin typeface="Calibri"/>
                <a:ea typeface="Calibri"/>
              </a:rPr>
              <a:t>Prepared from Review_Status_Summary.xlsx  •  SelfCount.docx</a:t>
            </a:r>
            <a:endParaRPr lang="en-IN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/>
          <p:cNvSpPr/>
          <p:nvPr/>
        </p:nvSpPr>
        <p:spPr>
          <a:xfrm>
            <a:off x="548640" y="320040"/>
            <a:ext cx="91425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OVERVIEW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548640" y="567000"/>
            <a:ext cx="1078848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Executive Summary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383040" y="1620000"/>
            <a:ext cx="11062800" cy="252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286200" indent="-286200" defTabSz="914400">
              <a:lnSpc>
                <a:spcPct val="115000"/>
              </a:lnSpc>
              <a:spcAft>
                <a:spcPts val="1599"/>
              </a:spcAft>
              <a:buClr>
                <a:srgbClr val="D9A441"/>
              </a:buClr>
              <a:buFont typeface="Arial"/>
              <a:buChar char="•"/>
            </a:pPr>
            <a:r>
              <a:rPr lang="en-US" sz="17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Rule coverage: </a:t>
            </a:r>
            <a:r>
              <a:rPr lang="en-US" sz="17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Prepared 2 rules that together cover 6 different shelf formats in CTS.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6200" indent="-286200" defTabSz="914400">
              <a:lnSpc>
                <a:spcPct val="115000"/>
              </a:lnSpc>
              <a:spcAft>
                <a:spcPts val="1599"/>
              </a:spcAft>
              <a:buClr>
                <a:srgbClr val="D9A441"/>
              </a:buClr>
              <a:buFont typeface="Arial"/>
              <a:buChar char="•"/>
            </a:pPr>
            <a:r>
              <a:rPr lang="en-US" sz="17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Bulk extraction: </a:t>
            </a:r>
            <a:r>
              <a:rPr lang="en-US" sz="17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Extracted 81 deals using paid API keys to support large-scale checking.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6200" indent="-286200" defTabSz="914400">
              <a:lnSpc>
                <a:spcPct val="115000"/>
              </a:lnSpc>
              <a:spcAft>
                <a:spcPts val="1599"/>
              </a:spcAft>
              <a:buClr>
                <a:srgbClr val="D9A441"/>
              </a:buClr>
              <a:buFont typeface="Arial"/>
              <a:buChar char="•"/>
            </a:pPr>
            <a:r>
              <a:rPr lang="en-US" sz="17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QC : </a:t>
            </a:r>
            <a:r>
              <a:rPr lang="en-US" sz="17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Ran multiple QC rounds across 28 deals, holding to a strict, repeated review process given recurring issues.</a:t>
            </a:r>
            <a:endParaRPr lang="en-IN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11521440" y="6446520"/>
            <a:ext cx="3643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A3C9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0"/>
          <p:cNvSpPr/>
          <p:nvPr/>
        </p:nvSpPr>
        <p:spPr>
          <a:xfrm>
            <a:off x="548640" y="320040"/>
            <a:ext cx="91425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TREND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"/>
          <p:cNvSpPr/>
          <p:nvPr/>
        </p:nvSpPr>
        <p:spPr>
          <a:xfrm>
            <a:off x="548640" y="567000"/>
            <a:ext cx="1078848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Error Rates Converge Across Validation Rounds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3" name="Chart 0"/>
          <p:cNvGraphicFramePr/>
          <p:nvPr/>
        </p:nvGraphicFramePr>
        <p:xfrm>
          <a:off x="548640" y="1417320"/>
          <a:ext cx="7405200" cy="475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4" name="Text 2"/>
          <p:cNvSpPr/>
          <p:nvPr/>
        </p:nvSpPr>
        <p:spPr>
          <a:xfrm>
            <a:off x="8229600" y="1600200"/>
            <a:ext cx="3473280" cy="447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Clr>
                <a:srgbClr val="D9A441"/>
              </a:buClr>
              <a:buFont typeface="Arial"/>
              <a:buChar char="•"/>
            </a:pPr>
            <a:r>
              <a:rPr lang="en-US" sz="12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Mismatch resolution: </a:t>
            </a: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All identified mismatch issues were reduced to 0 after re-engineering and refining the prompt in each round.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Clr>
                <a:srgbClr val="D9A441"/>
              </a:buClr>
              <a:buFont typeface="Arial"/>
              <a:buChar char="•"/>
            </a:pPr>
            <a:r>
              <a:rPr lang="en-US" sz="12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Error consistency: </a:t>
            </a: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The overall error rate does not consistently reach 0% in every round because different field-level errors are identified across different rounds, with no consistent pattern of errors recurring in the same fields.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Clr>
                <a:srgbClr val="D9A441"/>
              </a:buClr>
              <a:buFont typeface="Arial"/>
              <a:buChar char="•"/>
            </a:pPr>
            <a:r>
              <a:rPr lang="en-US" sz="12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Overall improvement: </a:t>
            </a:r>
            <a:r>
              <a:rPr lang="en-US" sz="1200" b="0" u="none" strike="noStrike">
                <a:solidFill>
                  <a:srgbClr val="333333"/>
                </a:solidFill>
                <a:effectLst/>
                <a:uFillTx/>
                <a:latin typeface="Calibri"/>
                <a:ea typeface="Calibri"/>
              </a:rPr>
              <a:t>From Round 1 to Round 7, the average error rate decreased significantly from 1.32% to 0.00%, demonstrating substantial improvement in extraction accuracy through iterative prompt optimization.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3"/>
          <p:cNvSpPr/>
          <p:nvPr/>
        </p:nvSpPr>
        <p:spPr>
          <a:xfrm>
            <a:off x="11521440" y="6446520"/>
            <a:ext cx="3643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A3C9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0"/>
          <p:cNvSpPr/>
          <p:nvPr/>
        </p:nvSpPr>
        <p:spPr>
          <a:xfrm>
            <a:off x="548640" y="320040"/>
            <a:ext cx="91425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CONCENTRATION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"/>
          <p:cNvSpPr/>
          <p:nvPr/>
        </p:nvSpPr>
        <p:spPr>
          <a:xfrm>
            <a:off x="548640" y="567000"/>
            <a:ext cx="1078848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Most-Affected Fields &amp; Deals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8" name="Chart 0"/>
          <p:cNvGraphicFramePr/>
          <p:nvPr/>
        </p:nvGraphicFramePr>
        <p:xfrm>
          <a:off x="457200" y="1417320"/>
          <a:ext cx="5667840" cy="489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9" name="Text 2"/>
          <p:cNvSpPr/>
          <p:nvPr/>
        </p:nvSpPr>
        <p:spPr>
          <a:xfrm>
            <a:off x="6492240" y="1417320"/>
            <a:ext cx="52106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Deals with highest cumulative error burden</a:t>
            </a:r>
            <a:endParaRPr lang="en-IN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0" name="Table 0"/>
          <p:cNvGraphicFramePr/>
          <p:nvPr/>
        </p:nvGraphicFramePr>
        <p:xfrm>
          <a:off x="6492240" y="1783080"/>
          <a:ext cx="5211720" cy="2743200"/>
        </p:xfrm>
        <a:graphic>
          <a:graphicData uri="http://schemas.openxmlformats.org/drawingml/2006/table">
            <a:tbl>
              <a:tblPr/>
              <a:tblGrid>
                <a:gridCol w="3200400"/>
                <a:gridCol w="1005840"/>
                <a:gridCol w="1005840"/>
              </a:tblGrid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Deal</a:t>
                      </a:r>
                      <a:endParaRPr lang="en-IN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E7EB"/>
                      </a:solidFill>
                      <a:prstDash val="solid"/>
                    </a:lnL>
                    <a:lnR w="9360">
                      <a:solidFill>
                        <a:srgbClr val="E5E7EB"/>
                      </a:solidFill>
                      <a:prstDash val="solid"/>
                    </a:lnR>
                    <a:lnT w="9360">
                      <a:solidFill>
                        <a:srgbClr val="E5E7EB"/>
                      </a:solidFill>
                      <a:prstDash val="solid"/>
                    </a:lnT>
                    <a:lnB w="9360">
                      <a:solidFill>
                        <a:srgbClr val="E5E7EB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Rounds</a:t>
                      </a:r>
                      <a:endParaRPr lang="en-IN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E7EB"/>
                      </a:solidFill>
                      <a:prstDash val="solid"/>
                    </a:lnL>
                    <a:lnR w="9360">
                      <a:solidFill>
                        <a:srgbClr val="E5E7EB"/>
                      </a:solidFill>
                      <a:prstDash val="solid"/>
                    </a:lnR>
                    <a:lnT w="9360">
                      <a:solidFill>
                        <a:srgbClr val="E5E7EB"/>
                      </a:solidFill>
                      <a:prstDash val="solid"/>
                    </a:lnT>
                    <a:lnB w="9360">
                      <a:solidFill>
                        <a:srgbClr val="E5E7EB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Σ Err</a:t>
                      </a:r>
                      <a:endParaRPr lang="en-IN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E7EB"/>
                      </a:solidFill>
                      <a:prstDash val="solid"/>
                    </a:lnL>
                    <a:lnR w="9360">
                      <a:solidFill>
                        <a:srgbClr val="E5E7EB"/>
                      </a:solidFill>
                      <a:prstDash val="solid"/>
                    </a:lnR>
                    <a:lnT w="9360">
                      <a:solidFill>
                        <a:srgbClr val="E5E7EB"/>
                      </a:solidFill>
                      <a:prstDash val="solid"/>
                    </a:lnT>
                    <a:lnB w="9360">
                      <a:solidFill>
                        <a:srgbClr val="E5E7EB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Deephaven Residential Mtg Trust 2018-1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E7EB"/>
                      </a:solidFill>
                      <a:prstDash val="solid"/>
                    </a:lnL>
                    <a:lnR w="9360">
                      <a:solidFill>
                        <a:srgbClr val="E5E7EB"/>
                      </a:solidFill>
                      <a:prstDash val="solid"/>
                    </a:lnR>
                    <a:lnT w="9360">
                      <a:solidFill>
                        <a:srgbClr val="E5E7EB"/>
                      </a:solidFill>
                      <a:prstDash val="solid"/>
                    </a:lnT>
                    <a:lnB w="9360">
                      <a:solidFill>
                        <a:srgbClr val="E5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E7EB"/>
                      </a:solidFill>
                      <a:prstDash val="solid"/>
                    </a:lnL>
                    <a:lnR w="9360">
                      <a:solidFill>
                        <a:srgbClr val="E5E7EB"/>
                      </a:solidFill>
                      <a:prstDash val="solid"/>
                    </a:lnR>
                    <a:lnT w="9360">
                      <a:solidFill>
                        <a:srgbClr val="E5E7EB"/>
                      </a:solidFill>
                      <a:prstDash val="solid"/>
                    </a:lnT>
                    <a:lnB w="9360">
                      <a:solidFill>
                        <a:srgbClr val="E5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15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E7EB"/>
                      </a:solidFill>
                      <a:prstDash val="solid"/>
                    </a:lnL>
                    <a:lnR w="9360">
                      <a:solidFill>
                        <a:srgbClr val="E5E7EB"/>
                      </a:solidFill>
                      <a:prstDash val="solid"/>
                    </a:lnR>
                    <a:lnT w="9360">
                      <a:solidFill>
                        <a:srgbClr val="E5E7EB"/>
                      </a:solidFill>
                      <a:prstDash val="solid"/>
                    </a:lnT>
                    <a:lnB w="9360">
                      <a:solidFill>
                        <a:srgbClr val="E5E7EB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Visio 2021-1R Trust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E7EB"/>
                      </a:solidFill>
                      <a:prstDash val="solid"/>
                    </a:lnL>
                    <a:lnR w="9360">
                      <a:solidFill>
                        <a:srgbClr val="E5E7EB"/>
                      </a:solidFill>
                      <a:prstDash val="solid"/>
                    </a:lnR>
                    <a:lnT w="9360">
                      <a:solidFill>
                        <a:srgbClr val="E5E7EB"/>
                      </a:solidFill>
                      <a:prstDash val="solid"/>
                    </a:lnT>
                    <a:lnB w="9360">
                      <a:solidFill>
                        <a:srgbClr val="E5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E7EB"/>
                      </a:solidFill>
                      <a:prstDash val="solid"/>
                    </a:lnL>
                    <a:lnR w="9360">
                      <a:solidFill>
                        <a:srgbClr val="E5E7EB"/>
                      </a:solidFill>
                      <a:prstDash val="solid"/>
                    </a:lnR>
                    <a:lnT w="9360">
                      <a:solidFill>
                        <a:srgbClr val="E5E7EB"/>
                      </a:solidFill>
                      <a:prstDash val="solid"/>
                    </a:lnT>
                    <a:lnB w="9360">
                      <a:solidFill>
                        <a:srgbClr val="E5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10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E7EB"/>
                      </a:solidFill>
                      <a:prstDash val="solid"/>
                    </a:lnL>
                    <a:lnR w="9360">
                      <a:solidFill>
                        <a:srgbClr val="E5E7EB"/>
                      </a:solidFill>
                      <a:prstDash val="solid"/>
                    </a:lnR>
                    <a:lnT w="9360">
                      <a:solidFill>
                        <a:srgbClr val="E5E7EB"/>
                      </a:solidFill>
                      <a:prstDash val="solid"/>
                    </a:lnT>
                    <a:lnB w="9360">
                      <a:solidFill>
                        <a:srgbClr val="E5E7EB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American Homes 4 Rent 2014-SFR2 Trust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E7EB"/>
                      </a:solidFill>
                      <a:prstDash val="solid"/>
                    </a:lnL>
                    <a:lnR w="9360">
                      <a:solidFill>
                        <a:srgbClr val="E5E7EB"/>
                      </a:solidFill>
                      <a:prstDash val="solid"/>
                    </a:lnR>
                    <a:lnT w="9360">
                      <a:solidFill>
                        <a:srgbClr val="E5E7EB"/>
                      </a:solidFill>
                      <a:prstDash val="solid"/>
                    </a:lnT>
                    <a:lnB w="9360">
                      <a:solidFill>
                        <a:srgbClr val="E5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E7EB"/>
                      </a:solidFill>
                      <a:prstDash val="solid"/>
                    </a:lnL>
                    <a:lnR w="9360">
                      <a:solidFill>
                        <a:srgbClr val="E5E7EB"/>
                      </a:solidFill>
                      <a:prstDash val="solid"/>
                    </a:lnR>
                    <a:lnT w="9360">
                      <a:solidFill>
                        <a:srgbClr val="E5E7EB"/>
                      </a:solidFill>
                      <a:prstDash val="solid"/>
                    </a:lnT>
                    <a:lnB w="9360">
                      <a:solidFill>
                        <a:srgbClr val="E5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9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E7EB"/>
                      </a:solidFill>
                      <a:prstDash val="solid"/>
                    </a:lnL>
                    <a:lnR w="9360">
                      <a:solidFill>
                        <a:srgbClr val="E5E7EB"/>
                      </a:solidFill>
                      <a:prstDash val="solid"/>
                    </a:lnR>
                    <a:lnT w="9360">
                      <a:solidFill>
                        <a:srgbClr val="E5E7EB"/>
                      </a:solidFill>
                      <a:prstDash val="solid"/>
                    </a:lnT>
                    <a:lnB w="9360">
                      <a:solidFill>
                        <a:srgbClr val="E5E7EB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MFA 2021-INV1 Trust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E7EB"/>
                      </a:solidFill>
                      <a:prstDash val="solid"/>
                    </a:lnL>
                    <a:lnR w="9360">
                      <a:solidFill>
                        <a:srgbClr val="E5E7EB"/>
                      </a:solidFill>
                      <a:prstDash val="solid"/>
                    </a:lnR>
                    <a:lnT w="9360">
                      <a:solidFill>
                        <a:srgbClr val="E5E7EB"/>
                      </a:solidFill>
                      <a:prstDash val="solid"/>
                    </a:lnT>
                    <a:lnB w="9360">
                      <a:solidFill>
                        <a:srgbClr val="E5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E7EB"/>
                      </a:solidFill>
                      <a:prstDash val="solid"/>
                    </a:lnL>
                    <a:lnR w="9360">
                      <a:solidFill>
                        <a:srgbClr val="E5E7EB"/>
                      </a:solidFill>
                      <a:prstDash val="solid"/>
                    </a:lnR>
                    <a:lnT w="9360">
                      <a:solidFill>
                        <a:srgbClr val="E5E7EB"/>
                      </a:solidFill>
                      <a:prstDash val="solid"/>
                    </a:lnT>
                    <a:lnB w="9360">
                      <a:solidFill>
                        <a:srgbClr val="E5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6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E7EB"/>
                      </a:solidFill>
                      <a:prstDash val="solid"/>
                    </a:lnL>
                    <a:lnR w="9360">
                      <a:solidFill>
                        <a:srgbClr val="E5E7EB"/>
                      </a:solidFill>
                      <a:prstDash val="solid"/>
                    </a:lnR>
                    <a:lnT w="9360">
                      <a:solidFill>
                        <a:srgbClr val="E5E7EB"/>
                      </a:solidFill>
                      <a:prstDash val="solid"/>
                    </a:lnT>
                    <a:lnB w="9360">
                      <a:solidFill>
                        <a:srgbClr val="E5E7EB"/>
                      </a:solidFill>
                      <a:prstDash val="solid"/>
                    </a:lnB>
                    <a:noFill/>
                  </a:tcPr>
                </a:tc>
              </a:tr>
              <a:tr h="457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NYMT Loan Trust 2025-INV2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E7EB"/>
                      </a:solidFill>
                      <a:prstDash val="solid"/>
                    </a:lnL>
                    <a:lnR w="9360">
                      <a:solidFill>
                        <a:srgbClr val="E5E7EB"/>
                      </a:solidFill>
                      <a:prstDash val="solid"/>
                    </a:lnR>
                    <a:lnT w="9360">
                      <a:solidFill>
                        <a:srgbClr val="E5E7EB"/>
                      </a:solidFill>
                      <a:prstDash val="solid"/>
                    </a:lnT>
                    <a:lnB w="9360">
                      <a:solidFill>
                        <a:srgbClr val="E5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E7EB"/>
                      </a:solidFill>
                      <a:prstDash val="solid"/>
                    </a:lnL>
                    <a:lnR w="9360">
                      <a:solidFill>
                        <a:srgbClr val="E5E7EB"/>
                      </a:solidFill>
                      <a:prstDash val="solid"/>
                    </a:lnR>
                    <a:lnT w="9360">
                      <a:solidFill>
                        <a:srgbClr val="E5E7EB"/>
                      </a:solidFill>
                      <a:prstDash val="solid"/>
                    </a:lnT>
                    <a:lnB w="9360">
                      <a:solidFill>
                        <a:srgbClr val="E5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E7EB"/>
                      </a:solidFill>
                      <a:prstDash val="solid"/>
                    </a:lnL>
                    <a:lnR w="9360">
                      <a:solidFill>
                        <a:srgbClr val="E5E7EB"/>
                      </a:solidFill>
                      <a:prstDash val="solid"/>
                    </a:lnR>
                    <a:lnT w="9360">
                      <a:solidFill>
                        <a:srgbClr val="E5E7EB"/>
                      </a:solidFill>
                      <a:prstDash val="solid"/>
                    </a:lnT>
                    <a:lnB w="9360">
                      <a:solidFill>
                        <a:srgbClr val="E5E7E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1" name="Text 3"/>
          <p:cNvSpPr/>
          <p:nvPr/>
        </p:nvSpPr>
        <p:spPr>
          <a:xfrm>
            <a:off x="6492240" y="5074920"/>
            <a:ext cx="5210640" cy="100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Fixing the top 3 field families would resolve roughly three-quarters of all flagged issues in the log.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4"/>
          <p:cNvSpPr/>
          <p:nvPr/>
        </p:nvSpPr>
        <p:spPr>
          <a:xfrm>
            <a:off x="11521440" y="6446520"/>
            <a:ext cx="3643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A3C9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0"/>
          <p:cNvSpPr/>
          <p:nvPr/>
        </p:nvSpPr>
        <p:spPr>
          <a:xfrm>
            <a:off x="548640" y="320040"/>
            <a:ext cx="91425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ROOT CAUSE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"/>
          <p:cNvSpPr/>
          <p:nvPr/>
        </p:nvSpPr>
        <p:spPr>
          <a:xfrm>
            <a:off x="548640" y="567000"/>
            <a:ext cx="1078848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Top Error Types, Root Cause &amp; Example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5" name="Table 0"/>
          <p:cNvGraphicFramePr/>
          <p:nvPr/>
        </p:nvGraphicFramePr>
        <p:xfrm>
          <a:off x="457200" y="1417320"/>
          <a:ext cx="11246760" cy="4663440"/>
        </p:xfrm>
        <a:graphic>
          <a:graphicData uri="http://schemas.openxmlformats.org/drawingml/2006/table">
            <a:tbl>
              <a:tblPr/>
              <a:tblGrid>
                <a:gridCol w="2743200"/>
                <a:gridCol w="4480560"/>
                <a:gridCol w="4023360"/>
              </a:tblGrid>
              <a:tr h="7772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Category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E7EB"/>
                      </a:solidFill>
                      <a:prstDash val="solid"/>
                    </a:lnL>
                    <a:lnR w="9360">
                      <a:solidFill>
                        <a:srgbClr val="E5E7EB"/>
                      </a:solidFill>
                      <a:prstDash val="solid"/>
                    </a:lnR>
                    <a:lnT w="9360">
                      <a:solidFill>
                        <a:srgbClr val="E5E7EB"/>
                      </a:solidFill>
                      <a:prstDash val="solid"/>
                    </a:lnT>
                    <a:lnB w="9360">
                      <a:solidFill>
                        <a:srgbClr val="E5E7EB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Root Cause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E7EB"/>
                      </a:solidFill>
                      <a:prstDash val="solid"/>
                    </a:lnL>
                    <a:lnR w="9360">
                      <a:solidFill>
                        <a:srgbClr val="E5E7EB"/>
                      </a:solidFill>
                      <a:prstDash val="solid"/>
                    </a:lnR>
                    <a:lnT w="9360">
                      <a:solidFill>
                        <a:srgbClr val="E5E7EB"/>
                      </a:solidFill>
                      <a:prstDash val="solid"/>
                    </a:lnT>
                    <a:lnB w="9360">
                      <a:solidFill>
                        <a:srgbClr val="E5E7EB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Example</a:t>
                      </a:r>
                      <a:endParaRPr lang="en-IN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E7EB"/>
                      </a:solidFill>
                      <a:prstDash val="solid"/>
                    </a:lnL>
                    <a:lnR w="9360">
                      <a:solidFill>
                        <a:srgbClr val="E5E7EB"/>
                      </a:solidFill>
                      <a:prstDash val="solid"/>
                    </a:lnR>
                    <a:lnT w="9360">
                      <a:solidFill>
                        <a:srgbClr val="E5E7EB"/>
                      </a:solidFill>
                      <a:prstDash val="solid"/>
                    </a:lnT>
                    <a:lnB w="9360">
                      <a:solidFill>
                        <a:srgbClr val="E5E7EB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7772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Wrong Value / Mis-mapping (26)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E7EB"/>
                      </a:solidFill>
                      <a:prstDash val="solid"/>
                    </a:lnL>
                    <a:lnR w="9360">
                      <a:solidFill>
                        <a:srgbClr val="E5E7EB"/>
                      </a:solidFill>
                      <a:prstDash val="solid"/>
                    </a:lnR>
                    <a:lnT w="9360">
                      <a:solidFill>
                        <a:srgbClr val="E5E7EB"/>
                      </a:solidFill>
                      <a:prstDash val="solid"/>
                    </a:lnT>
                    <a:lnB w="9360">
                      <a:solidFill>
                        <a:srgbClr val="E5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Similar-looking line items in the source cause the value to land in the wrong field/class/tranche.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E7EB"/>
                      </a:solidFill>
                      <a:prstDash val="solid"/>
                    </a:lnL>
                    <a:lnR w="9360">
                      <a:solidFill>
                        <a:srgbClr val="E5E7EB"/>
                      </a:solidFill>
                      <a:prstDash val="solid"/>
                    </a:lnR>
                    <a:lnT w="9360">
                      <a:solidFill>
                        <a:srgbClr val="E5E7EB"/>
                      </a:solidFill>
                      <a:prstDash val="solid"/>
                    </a:lnT>
                    <a:lnB w="9360">
                      <a:solidFill>
                        <a:srgbClr val="E5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TRANCHE_FACTOR for a sub-component written into the parent class (MASTR 2004-3).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E7EB"/>
                      </a:solidFill>
                      <a:prstDash val="solid"/>
                    </a:lnL>
                    <a:lnR w="9360">
                      <a:solidFill>
                        <a:srgbClr val="E5E7EB"/>
                      </a:solidFill>
                      <a:prstDash val="solid"/>
                    </a:lnR>
                    <a:lnT w="9360">
                      <a:solidFill>
                        <a:srgbClr val="E5E7EB"/>
                      </a:solidFill>
                      <a:prstDash val="solid"/>
                    </a:lnT>
                    <a:lnB w="9360">
                      <a:solidFill>
                        <a:srgbClr val="E5E7EB"/>
                      </a:solidFill>
                      <a:prstDash val="solid"/>
                    </a:lnB>
                    <a:noFill/>
                  </a:tcPr>
                </a:tc>
              </a:tr>
              <a:tr h="7772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Missing Field (21)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E7EB"/>
                      </a:solidFill>
                      <a:prstDash val="solid"/>
                    </a:lnL>
                    <a:lnR w="9360">
                      <a:solidFill>
                        <a:srgbClr val="E5E7EB"/>
                      </a:solidFill>
                      <a:prstDash val="solid"/>
                    </a:lnR>
                    <a:lnT w="9360">
                      <a:solidFill>
                        <a:srgbClr val="E5E7EB"/>
                      </a:solidFill>
                      <a:prstDash val="solid"/>
                    </a:lnT>
                    <a:lnB w="9360">
                      <a:solidFill>
                        <a:srgbClr val="E5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Model fails to locate a reported field — concentrated in one field family.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E7EB"/>
                      </a:solidFill>
                      <a:prstDash val="solid"/>
                    </a:lnL>
                    <a:lnR w="9360">
                      <a:solidFill>
                        <a:srgbClr val="E5E7EB"/>
                      </a:solidFill>
                      <a:prstDash val="solid"/>
                    </a:lnR>
                    <a:lnT w="9360">
                      <a:solidFill>
                        <a:srgbClr val="E5E7EB"/>
                      </a:solidFill>
                      <a:prstDash val="solid"/>
                    </a:lnT>
                    <a:lnB w="9360">
                      <a:solidFill>
                        <a:srgbClr val="E5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Delinquency-bucket fields (90-119/120-149/150-179/180+) missed in 18-19 log entries each.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E7EB"/>
                      </a:solidFill>
                      <a:prstDash val="solid"/>
                    </a:lnL>
                    <a:lnR w="9360">
                      <a:solidFill>
                        <a:srgbClr val="E5E7EB"/>
                      </a:solidFill>
                      <a:prstDash val="solid"/>
                    </a:lnR>
                    <a:lnT w="9360">
                      <a:solidFill>
                        <a:srgbClr val="E5E7EB"/>
                      </a:solidFill>
                      <a:prstDash val="solid"/>
                    </a:lnT>
                    <a:lnB w="9360">
                      <a:solidFill>
                        <a:srgbClr val="E5E7EB"/>
                      </a:solidFill>
                      <a:prstDash val="solid"/>
                    </a:lnB>
                    <a:noFill/>
                  </a:tcPr>
                </a:tc>
              </a:tr>
              <a:tr h="7772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Fee Calc Error (15)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E7EB"/>
                      </a:solidFill>
                      <a:prstDash val="solid"/>
                    </a:lnL>
                    <a:lnR w="9360">
                      <a:solidFill>
                        <a:srgbClr val="E5E7EB"/>
                      </a:solidFill>
                      <a:prstDash val="solid"/>
                    </a:lnR>
                    <a:lnT w="9360">
                      <a:solidFill>
                        <a:srgbClr val="E5E7EB"/>
                      </a:solidFill>
                      <a:prstDash val="solid"/>
                    </a:lnT>
                    <a:lnB w="9360">
                      <a:solidFill>
                        <a:srgbClr val="E5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Derived TOTAL_FEES_EXPENSES logic inconsistently includes admin fee.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E7EB"/>
                      </a:solidFill>
                      <a:prstDash val="solid"/>
                    </a:lnL>
                    <a:lnR w="9360">
                      <a:solidFill>
                        <a:srgbClr val="E5E7EB"/>
                      </a:solidFill>
                      <a:prstDash val="solid"/>
                    </a:lnR>
                    <a:lnT w="9360">
                      <a:solidFill>
                        <a:srgbClr val="E5E7EB"/>
                      </a:solidFill>
                      <a:prstDash val="solid"/>
                    </a:lnT>
                    <a:lnB w="9360">
                      <a:solidFill>
                        <a:srgbClr val="E5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FEES_TOTAL_ADMIN wrongly rolled into TOTAL_FEES_EXPENSES across 8+ deals.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E7EB"/>
                      </a:solidFill>
                      <a:prstDash val="solid"/>
                    </a:lnL>
                    <a:lnR w="9360">
                      <a:solidFill>
                        <a:srgbClr val="E5E7EB"/>
                      </a:solidFill>
                      <a:prstDash val="solid"/>
                    </a:lnR>
                    <a:lnT w="9360">
                      <a:solidFill>
                        <a:srgbClr val="E5E7EB"/>
                      </a:solidFill>
                      <a:prstDash val="solid"/>
                    </a:lnT>
                    <a:lnB w="9360">
                      <a:solidFill>
                        <a:srgbClr val="E5E7EB"/>
                      </a:solidFill>
                      <a:prstDash val="solid"/>
                    </a:lnB>
                    <a:noFill/>
                  </a:tcPr>
                </a:tc>
              </a:tr>
              <a:tr h="7772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Over-capture (15)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E7EB"/>
                      </a:solidFill>
                      <a:prstDash val="solid"/>
                    </a:lnL>
                    <a:lnR w="9360">
                      <a:solidFill>
                        <a:srgbClr val="E5E7EB"/>
                      </a:solidFill>
                      <a:prstDash val="solid"/>
                    </a:lnR>
                    <a:lnT w="9360">
                      <a:solidFill>
                        <a:srgbClr val="E5E7EB"/>
                      </a:solidFill>
                      <a:prstDash val="solid"/>
                    </a:lnT>
                    <a:lnB w="9360">
                      <a:solidFill>
                        <a:srgbClr val="E5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Model backfills a value (often 0.00) for a field the group doesn't actually report.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E7EB"/>
                      </a:solidFill>
                      <a:prstDash val="solid"/>
                    </a:lnL>
                    <a:lnR w="9360">
                      <a:solidFill>
                        <a:srgbClr val="E5E7EB"/>
                      </a:solidFill>
                      <a:prstDash val="solid"/>
                    </a:lnR>
                    <a:lnT w="9360">
                      <a:solidFill>
                        <a:srgbClr val="E5E7EB"/>
                      </a:solidFill>
                      <a:prstDash val="solid"/>
                    </a:lnT>
                    <a:lnB w="9360">
                      <a:solidFill>
                        <a:srgbClr val="E5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PREPAY_PENALTIES captured for groups where it isn't reported, 4 rounds running.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E7EB"/>
                      </a:solidFill>
                      <a:prstDash val="solid"/>
                    </a:lnL>
                    <a:lnR w="9360">
                      <a:solidFill>
                        <a:srgbClr val="E5E7EB"/>
                      </a:solidFill>
                      <a:prstDash val="solid"/>
                    </a:lnR>
                    <a:lnT w="9360">
                      <a:solidFill>
                        <a:srgbClr val="E5E7EB"/>
                      </a:solidFill>
                      <a:prstDash val="solid"/>
                    </a:lnT>
                    <a:lnB w="9360">
                      <a:solidFill>
                        <a:srgbClr val="E5E7EB"/>
                      </a:solidFill>
                      <a:prstDash val="solid"/>
                    </a:lnB>
                    <a:noFill/>
                  </a:tcPr>
                </a:tc>
              </a:tr>
              <a:tr h="77724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Round Regression (7)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E7EB"/>
                      </a:solidFill>
                      <a:prstDash val="solid"/>
                    </a:lnL>
                    <a:lnR w="9360">
                      <a:solidFill>
                        <a:srgbClr val="E5E7EB"/>
                      </a:solidFill>
                      <a:prstDash val="solid"/>
                    </a:lnR>
                    <a:lnT w="9360">
                      <a:solidFill>
                        <a:srgbClr val="E5E7EB"/>
                      </a:solidFill>
                      <a:prstDash val="solid"/>
                    </a:lnT>
                    <a:lnB w="9360">
                      <a:solidFill>
                        <a:srgbClr val="E5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Same source re-processed later produces a different result — non-deterministic extraction.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E7EB"/>
                      </a:solidFill>
                      <a:prstDash val="solid"/>
                    </a:lnL>
                    <a:lnR w="9360">
                      <a:solidFill>
                        <a:srgbClr val="E5E7EB"/>
                      </a:solidFill>
                      <a:prstDash val="solid"/>
                    </a:lnR>
                    <a:lnT w="9360">
                      <a:solidFill>
                        <a:srgbClr val="E5E7EB"/>
                      </a:solidFill>
                      <a:prstDash val="solid"/>
                    </a:lnT>
                    <a:lnB w="9360">
                      <a:solidFill>
                        <a:srgbClr val="E5E7EB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333333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TRANCHE_FACTOR correct in Round 2, missing in Round 1 rework, “no changes in logic.”</a:t>
                      </a:r>
                      <a:endParaRPr lang="en-IN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9360">
                      <a:solidFill>
                        <a:srgbClr val="E5E7EB"/>
                      </a:solidFill>
                      <a:prstDash val="solid"/>
                    </a:lnL>
                    <a:lnR w="9360">
                      <a:solidFill>
                        <a:srgbClr val="E5E7EB"/>
                      </a:solidFill>
                      <a:prstDash val="solid"/>
                    </a:lnR>
                    <a:lnT w="9360">
                      <a:solidFill>
                        <a:srgbClr val="E5E7EB"/>
                      </a:solidFill>
                      <a:prstDash val="solid"/>
                    </a:lnT>
                    <a:lnB w="9360">
                      <a:solidFill>
                        <a:srgbClr val="E5E7EB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6" name="Text 2"/>
          <p:cNvSpPr/>
          <p:nvPr/>
        </p:nvSpPr>
        <p:spPr>
          <a:xfrm>
            <a:off x="11521440" y="6446520"/>
            <a:ext cx="3643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A3C9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548640" y="320040"/>
            <a:ext cx="91425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SELF-COUNT TRACKER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548640" y="567000"/>
            <a:ext cx="1078848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81 Flagged Deals Across Two Rule Sets</a:t>
            </a:r>
            <a:endParaRPr lang="en-IN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9" name="Chart 0"/>
          <p:cNvGraphicFramePr/>
          <p:nvPr/>
        </p:nvGraphicFramePr>
        <p:xfrm>
          <a:off x="457200" y="1417320"/>
          <a:ext cx="6765120" cy="489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0" name="Shape 2"/>
          <p:cNvSpPr/>
          <p:nvPr/>
        </p:nvSpPr>
        <p:spPr>
          <a:xfrm>
            <a:off x="1188720" y="6446520"/>
            <a:ext cx="199800" cy="199800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3"/>
          <p:cNvSpPr/>
          <p:nvPr/>
        </p:nvSpPr>
        <p:spPr>
          <a:xfrm>
            <a:off x="1444680" y="6373440"/>
            <a:ext cx="10044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Rule 1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4"/>
          <p:cNvSpPr/>
          <p:nvPr/>
        </p:nvSpPr>
        <p:spPr>
          <a:xfrm>
            <a:off x="2514600" y="6446520"/>
            <a:ext cx="199800" cy="199800"/>
          </a:xfrm>
          <a:prstGeom prst="rect">
            <a:avLst/>
          </a:prstGeom>
          <a:solidFill>
            <a:srgbClr val="D9A44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5"/>
          <p:cNvSpPr/>
          <p:nvPr/>
        </p:nvSpPr>
        <p:spPr>
          <a:xfrm>
            <a:off x="2770560" y="6373440"/>
            <a:ext cx="10044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Rule 2</a:t>
            </a:r>
            <a:endParaRPr lang="en-IN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6"/>
          <p:cNvSpPr/>
          <p:nvPr/>
        </p:nvSpPr>
        <p:spPr>
          <a:xfrm>
            <a:off x="7543800" y="1508760"/>
            <a:ext cx="4159080" cy="1050120"/>
          </a:xfrm>
          <a:prstGeom prst="roundRect">
            <a:avLst>
              <a:gd name="adj" fmla="val 6087"/>
            </a:avLst>
          </a:prstGeom>
          <a:solidFill>
            <a:srgbClr val="F7F8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7"/>
          <p:cNvSpPr/>
          <p:nvPr/>
        </p:nvSpPr>
        <p:spPr>
          <a:xfrm>
            <a:off x="7772400" y="1618560"/>
            <a:ext cx="127872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56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8"/>
          <p:cNvSpPr/>
          <p:nvPr/>
        </p:nvSpPr>
        <p:spPr>
          <a:xfrm>
            <a:off x="9144000" y="1618560"/>
            <a:ext cx="246744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Rule 1 instances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(field-mapping consistency)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9"/>
          <p:cNvSpPr/>
          <p:nvPr/>
        </p:nvSpPr>
        <p:spPr>
          <a:xfrm>
            <a:off x="7543800" y="2788920"/>
            <a:ext cx="4159080" cy="1050120"/>
          </a:xfrm>
          <a:prstGeom prst="roundRect">
            <a:avLst>
              <a:gd name="adj" fmla="val 6087"/>
            </a:avLst>
          </a:prstGeom>
          <a:solidFill>
            <a:srgbClr val="F7F8F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IN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0"/>
          <p:cNvSpPr/>
          <p:nvPr/>
        </p:nvSpPr>
        <p:spPr>
          <a:xfrm>
            <a:off x="7772400" y="2898720"/>
            <a:ext cx="127872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E2761"/>
                </a:solidFill>
                <a:effectLst/>
                <a:uFillTx/>
                <a:latin typeface="Cambria"/>
                <a:ea typeface="Cambria"/>
              </a:rPr>
              <a:t>25</a:t>
            </a:r>
            <a:endParaRPr lang="en-IN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1"/>
          <p:cNvSpPr/>
          <p:nvPr/>
        </p:nvSpPr>
        <p:spPr>
          <a:xfrm>
            <a:off x="9144000" y="2898720"/>
            <a:ext cx="2467440" cy="82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Rule 2 instances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(SFR / duplicate-field checks)</a:t>
            </a:r>
            <a:endParaRPr lang="en-I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2"/>
          <p:cNvSpPr/>
          <p:nvPr/>
        </p:nvSpPr>
        <p:spPr>
          <a:xfrm>
            <a:off x="7543800" y="4206240"/>
            <a:ext cx="4159080" cy="12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Tricon alone accounts for 14 of 25 Rule-2 instances (56%)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44444"/>
                </a:solidFill>
                <a:effectLst/>
                <a:uFillTx/>
                <a:latin typeface="Calibri"/>
                <a:ea typeface="Calibri"/>
              </a:rPr>
              <a:t>— a single dominant outlier warranting a dedicated template review, distinct from the broad, evenly-spread Rule-1 pattern.</a:t>
            </a:r>
            <a:endParaRPr lang="en-IN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3"/>
          <p:cNvSpPr/>
          <p:nvPr/>
        </p:nvSpPr>
        <p:spPr>
          <a:xfrm>
            <a:off x="11521440" y="6446520"/>
            <a:ext cx="3643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9AA3C9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en-IN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</TotalTime>
  <Application>LibreOffice/26.2.5.2$Windows_X86_64 LibreOffice_project/cd7284b4cbbfeb507e630c1aac019f4157393acb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2026-09-11T05:39:49Z</dcterms:created>
  <dc:creator>PptxGenJS</dc:creator>
  <dc:description/>
  <dc:language>en-IN</dc:language>
  <cp:lastModifiedBy/>
  <dcterms:modified xsi:type="dcterms:W3CDTF">2026-09-11T15:05:36Z</dcterms:modified>
  <cp:revision>11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